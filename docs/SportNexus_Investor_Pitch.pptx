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80C1A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gradFill>
            <a:gsLst>
              <a:gs pos="0">
                <a:srgbClr val="1E1B4B"/>
              </a:gs>
              <a:gs pos="100000">
                <a:srgbClr val="06070E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120640" cy="50292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8229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9659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SportNexus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79776"/>
            <a:ext cx="3840480" cy="41148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28529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Sports Academy Booking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2918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475A6E"/>
                </a:solidFill>
              </a:rPr>
              <a:t>Investor Pitch  ·  2025  ·  Confidential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1051560" cy="274320"/>
          </a:xfrm>
          <a:prstGeom prst="rect">
            <a:avLst/>
          </a:prstGeom>
          <a:solidFill>
            <a:srgbClr val="13143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785615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Android + 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3749039"/>
            <a:ext cx="1051560" cy="274320"/>
          </a:xfrm>
          <a:prstGeom prst="rect">
            <a:avLst/>
          </a:prstGeom>
          <a:solidFill>
            <a:srgbClr val="032519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3785615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500+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25496" y="3749039"/>
            <a:ext cx="1051560" cy="274320"/>
          </a:xfrm>
          <a:prstGeom prst="rect">
            <a:avLst/>
          </a:prstGeom>
          <a:solidFill>
            <a:srgbClr val="311F0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25496" y="3785615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Seed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60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804672"/>
            <a:ext cx="1828800" cy="36576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950976"/>
            <a:ext cx="6675120" cy="82296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950976"/>
            <a:ext cx="5029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13385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04241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Cross-Platform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37160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React Native + Expo SDK 52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1911095"/>
            <a:ext cx="6675120" cy="82296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1911095"/>
            <a:ext cx="50292" cy="8229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09397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0025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Production REST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33172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Fastify · Socket.IO · BullMQ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871216"/>
            <a:ext cx="6675120" cy="82296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57800" y="2871216"/>
            <a:ext cx="5029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305409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96265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Cloud DB &amp;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29184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PostgreSQL + Redis — paid plans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3831336"/>
            <a:ext cx="6675120" cy="82296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57800" y="3831336"/>
            <a:ext cx="50292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401421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92277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Payment Gateway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25196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Razorpay UPI QR + Webhooks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4791456"/>
            <a:ext cx="6675120" cy="82296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57800" y="4791456"/>
            <a:ext cx="5029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497433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88289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GPS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21208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OpenStreetMap + WebView + Socket.IO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7800" y="5751576"/>
            <a:ext cx="6675120" cy="82296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57800" y="5751576"/>
            <a:ext cx="5029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0" y="593445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84301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Push Notifications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6172200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Firebase FCM · Daily scheduling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D1422"/>
            </a:gs>
          </a:gsLst>
          <a:lin ang="93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1097280"/>
          </a:xfrm>
          <a:gradFill>
            <a:gsLst>
              <a:gs pos="0">
                <a:srgbClr val="1E1B4B"/>
              </a:gs>
              <a:gs pos="100000">
                <a:srgbClr val="0D1422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Development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What it cost to build SportNexus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54864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0C1020"/>
                </a:solidFill>
              </a:rPr>
              <a:t>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11457432" cy="1170432"/>
          </a:xfrm>
          <a:prstGeom prst="rect">
            <a:avLst/>
          </a:prstGeom>
          <a:solidFill>
            <a:srgbClr val="131D30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98448"/>
            <a:ext cx="50292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🏗️  Built by a Dedicated Development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Delivered in 4 months  ·  Full-stack startup team  ·  Equiv. agency cost: ₹8–20 Lakhs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53312"/>
            <a:ext cx="2834640" cy="1060704"/>
          </a:xfrm>
          <a:prstGeom prst="rect">
            <a:avLst/>
          </a:prstGeom>
          <a:solidFill>
            <a:srgbClr val="0E0F24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44475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18CF8"/>
                </a:solidFill>
              </a:rPr>
              <a:t>₹7,00,000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06654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TEAM BUILD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11457432" cy="365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06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Role /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706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Traditional Agency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066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Freelancer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06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Our Team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90672"/>
            <a:ext cx="11457432" cy="420624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82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Full-Stack API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1821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₹2,50,000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821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₹80,000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182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₹2,20,000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34156"/>
            <a:ext cx="11457432" cy="420624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255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React Native Mobile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6255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₹3,00,000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255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₹1,20,000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255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₹2,40,000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77639"/>
            <a:ext cx="11457432" cy="420624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690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Admin Dashboard (Next.js)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06907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₹1,00,000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6907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₹40,000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069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₹75,000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21124"/>
            <a:ext cx="11457432" cy="420624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5125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Database Schema &amp; Seed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45125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₹50,000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125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₹20,000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5125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₹35,000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64608"/>
            <a:ext cx="11457432" cy="420624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9560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DevOps / Infra Setup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4956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₹80,000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9560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₹30,000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956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₹50,000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08092"/>
            <a:ext cx="11457432" cy="420624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3995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UI/UX Design &amp; Theming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39953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₹1,20,000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39953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E"/>
                </a:solidFill>
              </a:rPr>
              <a:t>₹50,000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3995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₹80,000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51576"/>
            <a:ext cx="11457432" cy="420624"/>
          </a:xfrm>
          <a:prstGeom prst="rect">
            <a:avLst/>
          </a:prstGeom>
          <a:solidFill>
            <a:srgbClr val="11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5751576"/>
            <a:ext cx="50292" cy="420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8430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58430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₹9,00,000+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843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₹3,40,000+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843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₹7,00,000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D1422"/>
            </a:gs>
          </a:gsLst>
          <a:lin ang="8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1097280"/>
          </a:xfrm>
          <a:gradFill>
            <a:gsLst>
              <a:gs pos="0">
                <a:srgbClr val="1E1B4B"/>
              </a:gs>
              <a:gs pos="100000">
                <a:srgbClr val="0D1422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Production-grade, open-source first — zero core licensing fees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788920" cy="473659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0292" cy="47365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" y="1298448"/>
            <a:ext cx="2738628" cy="566928"/>
          </a:xfrm>
          <a:prstGeom prst="rect">
            <a:avLst/>
          </a:prstGeom>
          <a:solidFill>
            <a:srgbClr val="11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371600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081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Mobile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" y="1865376"/>
            <a:ext cx="2738628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" y="2103120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2082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React Native 0.76 + Expo SDK 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743200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" y="3072384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900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Zustand + React Query v5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" y="3712464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" y="4041648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593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Socket.IO client · live transit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" y="4681728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" y="501091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28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OpenStreetMap + Leaflet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298448"/>
            <a:ext cx="2788920" cy="473659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1298448"/>
            <a:ext cx="50292" cy="473659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42132" y="1298448"/>
            <a:ext cx="2738628" cy="566928"/>
          </a:xfrm>
          <a:prstGeom prst="rect">
            <a:avLst/>
          </a:prstGeom>
          <a:solidFill>
            <a:srgbClr val="17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6432" y="1371600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4081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42132" y="1865376"/>
            <a:ext cx="2738628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56432" y="2103120"/>
            <a:ext cx="82296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202082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Fastify (Node.js) REST + WebSocket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56432" y="2743200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6432" y="3072384"/>
            <a:ext cx="82296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29900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BullMQ job queue · slot expiry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6432" y="3712464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6432" y="4041648"/>
            <a:ext cx="82296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39593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Socket.IO server · transit rooms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6432" y="4681728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56432" y="5010912"/>
            <a:ext cx="82296" cy="8229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80" y="4928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Zod validation + JWT RBAC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1298448"/>
            <a:ext cx="2788920" cy="473659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1298448"/>
            <a:ext cx="50292" cy="4736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13931" y="1298448"/>
            <a:ext cx="2738628" cy="566928"/>
          </a:xfrm>
          <a:prstGeom prst="rect">
            <a:avLst/>
          </a:prstGeom>
          <a:solidFill>
            <a:srgbClr val="022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1" y="1371600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14081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13931" y="1865376"/>
            <a:ext cx="2738628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28231" y="2103120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79" y="202082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PostgreSQL 16 via Prisma ORM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8231" y="2743200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28231" y="3072384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79" y="29900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Redis 7 — caching + queues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28231" y="3712464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28231" y="4041648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79" y="39593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 tables · 4 enums · 15+ indexes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28231" y="4681728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28231" y="501091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79" y="4928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Automated daily backups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1298448"/>
            <a:ext cx="2788920" cy="473659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35440" y="1298448"/>
            <a:ext cx="50292" cy="4736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85732" y="1298448"/>
            <a:ext cx="2738628" cy="566928"/>
          </a:xfrm>
          <a:prstGeom prst="rect">
            <a:avLst/>
          </a:prstGeom>
          <a:solidFill>
            <a:srgbClr val="2C1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00032" y="1371600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14081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Cloud Layer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85732" y="1865376"/>
            <a:ext cx="2738628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00032" y="2103120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55480" y="202082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Render.com — API + DB + Redis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00032" y="2743200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00032" y="3072384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29900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Firebase FCM push notifications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00032" y="3712464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400032" y="4041648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55480" y="39593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Razorpay — UPI + QR + webhooks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00032" y="4681728"/>
            <a:ext cx="2377440" cy="16459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400032" y="501091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55480" y="49286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Expo EAS — APK / AAB builds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144768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040" y="6199632"/>
            <a:ext cx="1883664" cy="530352"/>
          </a:xfrm>
          <a:prstGeom prst="rect">
            <a:avLst/>
          </a:prstGeom>
          <a:solidFill>
            <a:srgbClr val="131D30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62362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</a:rPr>
              <a:t>₹2,090/mo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6473952"/>
            <a:ext cx="1883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API Server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95144" y="6199632"/>
            <a:ext cx="1883664" cy="530352"/>
          </a:xfrm>
          <a:prstGeom prst="rect">
            <a:avLst/>
          </a:prstGeom>
          <a:solidFill>
            <a:srgbClr val="131D30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95144" y="62362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</a:rPr>
              <a:t>₹1,670/mo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95144" y="6473952"/>
            <a:ext cx="1883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PostgreSQL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70248" y="6199632"/>
            <a:ext cx="1883664" cy="530352"/>
          </a:xfrm>
          <a:prstGeom prst="rect">
            <a:avLst/>
          </a:prstGeom>
          <a:solidFill>
            <a:srgbClr val="131D30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70248" y="62362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</a:rPr>
              <a:t>₹2,510/mo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70248" y="6473952"/>
            <a:ext cx="1883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Redis Cache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45352" y="6199632"/>
            <a:ext cx="1883664" cy="530352"/>
          </a:xfrm>
          <a:prstGeom prst="rect">
            <a:avLst/>
          </a:prstGeom>
          <a:solidFill>
            <a:srgbClr val="131D30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45352" y="62362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</a:rPr>
              <a:t>₹1,500/mo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5352" y="6473952"/>
            <a:ext cx="1883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Firebase FCM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0456" y="6199632"/>
            <a:ext cx="1883664" cy="530352"/>
          </a:xfrm>
          <a:prstGeom prst="rect">
            <a:avLst/>
          </a:prstGeom>
          <a:solidFill>
            <a:srgbClr val="131D30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0456" y="62362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</a:rPr>
              <a:t>2% / txn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0456" y="6473952"/>
            <a:ext cx="1883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Razorpay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195560" y="6199632"/>
            <a:ext cx="1883664" cy="530352"/>
          </a:xfrm>
          <a:prstGeom prst="rect">
            <a:avLst/>
          </a:prstGeom>
          <a:solidFill>
            <a:srgbClr val="131D30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95560" y="62362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18CF8"/>
                </a:solidFill>
              </a:rPr>
              <a:t>₹1,668/mo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95560" y="6473952"/>
            <a:ext cx="18836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SendGrid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D14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1097280"/>
          </a:xfrm>
          <a:gradFill>
            <a:gsLst>
              <a:gs pos="0">
                <a:srgbClr val="1E1B4B"/>
              </a:gs>
              <a:gs pos="100000">
                <a:srgbClr val="0D1422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Infrastructure Cost at 500+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Monthly recurring — paid production plans + maintenance &amp;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2761488" cy="129844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0292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" y="1298448"/>
            <a:ext cx="2711196" cy="41148"/>
          </a:xfrm>
          <a:prstGeom prst="rect">
            <a:avLst/>
          </a:prstGeom>
          <a:solidFill>
            <a:srgbClr val="222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71600"/>
            <a:ext cx="2761488" cy="67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₹30,700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51547"/>
            <a:ext cx="2761488" cy="49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Total Monthly (All-In)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298448"/>
            <a:ext cx="2761488" cy="129844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298448"/>
            <a:ext cx="50292" cy="129844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4700" y="1298448"/>
            <a:ext cx="2711196" cy="41148"/>
          </a:xfrm>
          <a:prstGeom prst="rect">
            <a:avLst/>
          </a:prstGeom>
          <a:solidFill>
            <a:srgbClr val="2D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371600"/>
            <a:ext cx="2761488" cy="67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₹13,700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051547"/>
            <a:ext cx="2761488" cy="49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Cloud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298448"/>
            <a:ext cx="2761488" cy="129844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298448"/>
            <a:ext cx="50292" cy="1298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9068" y="1298448"/>
            <a:ext cx="2711196" cy="41148"/>
          </a:xfrm>
          <a:prstGeom prst="rect">
            <a:avLst/>
          </a:prstGeom>
          <a:solidFill>
            <a:srgbClr val="054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371600"/>
            <a:ext cx="2761488" cy="67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₹12,000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2051547"/>
            <a:ext cx="2761488" cy="49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App Maintenance &amp; Updates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298448"/>
            <a:ext cx="2761488" cy="129844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298448"/>
            <a:ext cx="50292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03436" y="1298448"/>
            <a:ext cx="2711196" cy="41148"/>
          </a:xfrm>
          <a:prstGeom prst="rect">
            <a:avLst/>
          </a:prstGeom>
          <a:solidFill>
            <a:srgbClr val="553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1371600"/>
            <a:ext cx="2761488" cy="67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₹5,000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051547"/>
            <a:ext cx="2761488" cy="493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Application Support &amp; 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788920"/>
            <a:ext cx="11548872" cy="365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43784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8437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28437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Monthly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843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246120"/>
            <a:ext cx="1154887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246120"/>
            <a:ext cx="5029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28269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Render — API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28269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Standard ($25)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282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₹2,090 / 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28269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Always-on Node.js · 1 GB RAM · no cold starts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506724"/>
            <a:ext cx="1154887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506724"/>
            <a:ext cx="5029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543300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Render — PostgreSQL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354330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Standard ($20)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54330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₹1,670 / 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54330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4 GB storage · automated daily backups · 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767328"/>
            <a:ext cx="1154887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3767328"/>
            <a:ext cx="5029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803904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Render — Redis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380390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Standard ($30)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38039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₹2,510 / 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803904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100 MB persistent · BullMQ queues + API caching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027931"/>
            <a:ext cx="1154887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4027931"/>
            <a:ext cx="50292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064507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Firebase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4064507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Blaze pay-as-go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4064507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</a:rPr>
              <a:t>₹1,500 / 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4064507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FCM push + Analytics + Crashlytics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288536"/>
            <a:ext cx="1154887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4288536"/>
            <a:ext cx="502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325112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Razorpay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32511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Pay-per-use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66360" y="43251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2% / txn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4325112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UPI · QR code · webhooks — no fixed monthly base fee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549140"/>
            <a:ext cx="1154887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4549140"/>
            <a:ext cx="502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58571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MSG91 SMS OTP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1840" y="458571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Business Plan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45857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₹1,500 / mo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458571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~10,000 OTPs / month · DLT registered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4809744"/>
            <a:ext cx="1154887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0040" y="4809744"/>
            <a:ext cx="50292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846320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SendGrid (Email)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40" y="484632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Essentials $19.95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6360" y="48463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</a:rPr>
              <a:t>₹1,668 / mo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484632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50,000 emails / month · delivery analytics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5070348"/>
            <a:ext cx="1154887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0040" y="5070348"/>
            <a:ext cx="50292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106924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Cloudinary (Media CDN)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1840" y="5106924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Plus $89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510692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</a:rPr>
              <a:t>₹1,500 / mo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3760" y="5106924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225 GB storage + CDN · image optimisation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5330952"/>
            <a:ext cx="1154887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0040" y="5330952"/>
            <a:ext cx="5029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536752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Sentry (Monitoring)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0" y="5367528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Team $26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66360" y="53675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₹2,175 / mo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23760" y="5367528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50,000 errors / month · alerts · perf tracing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5591556"/>
            <a:ext cx="1154887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0040" y="5591556"/>
            <a:ext cx="50292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5628132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Domain + SSL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91840" y="5628132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Annual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66360" y="56281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₹85 / mo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5628132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sportnexus.com + Let's Encrypt (auto-renew)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5852159"/>
            <a:ext cx="1154887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0040" y="5852159"/>
            <a:ext cx="5029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88873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App Maintenance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91840" y="5888736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Monthly retainer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66360" y="588873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₹12,000 / mo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23760" y="5888736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Bug fixes · OS updates · dependency upgrades · patches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040" y="6112764"/>
            <a:ext cx="1154887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20040" y="6112764"/>
            <a:ext cx="5029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6149340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Application Support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91840" y="6149340"/>
            <a:ext cx="1719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A6E"/>
                </a:solidFill>
              </a:rPr>
              <a:t>Monthly retainer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66360" y="61493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₹5,000 / mo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23760" y="6149340"/>
            <a:ext cx="4526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Helpdesk · on-call monitoring · SLA · monthly reports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6373368"/>
            <a:ext cx="11548872" cy="365760"/>
          </a:xfrm>
          <a:gradFill>
            <a:gsLst>
              <a:gs pos="0">
                <a:srgbClr val="1E1B4B"/>
              </a:gs>
              <a:gs pos="100000">
                <a:srgbClr val="042E20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644652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 (Cloud ₹13,700 + Maintenance ₹12,000 + Support ₹5,000)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64465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</a:rPr>
              <a:t>~₹30,700 / month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D1422"/>
            </a:gs>
          </a:gsLst>
          <a:lin ang="888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1097280"/>
          </a:xfrm>
          <a:gradFill>
            <a:gsLst>
              <a:gs pos="0">
                <a:srgbClr val="1E1B4B"/>
              </a:gs>
              <a:gs pos="100000">
                <a:srgbClr val="0D1422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Revenue Model &amp; 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Multiple streams — platform earns without owning inventory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2788920" cy="278892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50292" cy="2788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" y="1298448"/>
            <a:ext cx="2738628" cy="45720"/>
          </a:xfrm>
          <a:prstGeom prst="rect">
            <a:avLst/>
          </a:prstGeom>
          <a:solidFill>
            <a:srgbClr val="313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385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Training Fee
Commission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11430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</a:rPr>
              <a:t>5–10%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per enrollment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A6E"/>
                </a:solidFill>
              </a:rPr>
              <a:t>₹50–300 per user/month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298448"/>
            <a:ext cx="2788920" cy="278892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0128" y="1298448"/>
            <a:ext cx="50292" cy="27889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0420" y="1298448"/>
            <a:ext cx="2738628" cy="45720"/>
          </a:xfrm>
          <a:prstGeom prst="rect">
            <a:avLst/>
          </a:prstGeom>
          <a:solidFill>
            <a:srgbClr val="404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13716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19385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Transport
Fee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8" y="2514600"/>
            <a:ext cx="11430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2578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₹5–8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29992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per km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A6E"/>
                </a:solidFill>
              </a:rPr>
              <a:t>₹25/km charged to families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1298448"/>
            <a:ext cx="2788920" cy="278892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4496" y="1298448"/>
            <a:ext cx="50292" cy="2788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4788" y="1298448"/>
            <a:ext cx="2738628" cy="45720"/>
          </a:xfrm>
          <a:prstGeom prst="rect">
            <a:avLst/>
          </a:prstGeom>
          <a:solidFill>
            <a:srgbClr val="08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3716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19385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Academy
Premium Listing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7456" y="2514600"/>
            <a:ext cx="11430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2578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₹2–5K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9992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per academy/mo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A6E"/>
                </a:solidFill>
              </a:rPr>
              <a:t>Featured · Verified badge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8864" y="1298448"/>
            <a:ext cx="2788920" cy="278892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98864" y="1298448"/>
            <a:ext cx="50292" cy="2788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49156" y="1298448"/>
            <a:ext cx="2738628" cy="45720"/>
          </a:xfrm>
          <a:prstGeom prst="rect">
            <a:avLst/>
          </a:prstGeom>
          <a:solidFill>
            <a:srgbClr val="7A4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6024" y="13716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193852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Analytics
Dashboard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21824" y="2514600"/>
            <a:ext cx="11430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36024" y="257860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₹500–1.5K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29992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per academy/mo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A6E"/>
                </a:solidFill>
              </a:rPr>
              <a:t>Revenue reports &amp; insights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224528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31596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Unit Economics at 500 Active Users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31596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Monthly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43159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Annual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754880"/>
            <a:ext cx="1145743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754880"/>
            <a:ext cx="5029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791456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Training commission (500 users × ₹150 avg)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791456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₹75,000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7914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₹9,00,000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15484"/>
            <a:ext cx="1145743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5015484"/>
            <a:ext cx="5029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0520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Transport margin  (200 transport users × ₹400)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05206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₹80,000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50520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₹9,60,000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276088"/>
            <a:ext cx="1145743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5276088"/>
            <a:ext cx="5029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312664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Academy premium listings  (6 × ₹3,000)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531266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₹18,000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531266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</a:rPr>
              <a:t>₹2,16,000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536692"/>
            <a:ext cx="11457432" cy="256032"/>
          </a:xfrm>
          <a:prstGeom prst="rect">
            <a:avLst/>
          </a:prstGeom>
          <a:solidFill>
            <a:srgbClr val="0F1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536692"/>
            <a:ext cx="50292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57326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Gross Revenue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5573268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18CF8"/>
                </a:solidFill>
              </a:rPr>
              <a:t>₹1,73,000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55732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818CF8"/>
                </a:solidFill>
              </a:rPr>
              <a:t>₹20,76,000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797296"/>
            <a:ext cx="1145743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760" y="5797296"/>
            <a:ext cx="5029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83387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Cloud infrastructure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583387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43F5E"/>
                </a:solidFill>
              </a:rPr>
              <a:t>- ₹13,700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58338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43F5E"/>
                </a:solidFill>
              </a:rPr>
              <a:t>- ₹1,64,400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057900"/>
            <a:ext cx="11457432" cy="256032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5760" y="6057900"/>
            <a:ext cx="50292" cy="25603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6094476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App maintenance + support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6094476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43F5E"/>
                </a:solidFill>
              </a:rPr>
              <a:t>- ₹17,000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60944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43F5E"/>
                </a:solidFill>
              </a:rPr>
              <a:t>- ₹2,04,000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6318504"/>
            <a:ext cx="11457432" cy="25603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" y="6318504"/>
            <a:ext cx="502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635508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Razorpay fees  (2% of ₹1,55,000 GMV)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80" y="6355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</a:rPr>
              <a:t>- ₹3,100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63550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</a:rPr>
              <a:t>- ₹37,200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6579108"/>
            <a:ext cx="11457432" cy="256032"/>
          </a:xfrm>
          <a:prstGeom prst="rect">
            <a:avLst/>
          </a:prstGeom>
          <a:solidFill>
            <a:srgbClr val="06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5760" y="6579108"/>
            <a:ext cx="50292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6615684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Net Profit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0" y="661568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₹1,39,200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41280" y="661568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D399"/>
                </a:solidFill>
              </a:rPr>
              <a:t>₹16,70,400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D1422"/>
            </a:gs>
          </a:gsLst>
          <a:lin ang="8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1097280"/>
          </a:xfrm>
          <a:gradFill>
            <a:gsLst>
              <a:gs pos="0">
                <a:srgbClr val="1E1B4B"/>
              </a:gs>
              <a:gs pos="100000">
                <a:srgbClr val="0D1422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12-Month Financial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Growth roadmap from zero to 500+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7589520" cy="448056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5504688"/>
            <a:ext cx="256763" cy="36576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415" y="5249799"/>
            <a:ext cx="212323" cy="291465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5568" y="5504688"/>
            <a:ext cx="256763" cy="36576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82207" y="5249799"/>
            <a:ext cx="212323" cy="291465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5504688"/>
            <a:ext cx="256763" cy="36576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03999" y="5191506"/>
            <a:ext cx="212323" cy="349758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5444109"/>
            <a:ext cx="256763" cy="97155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5791" y="5152644"/>
            <a:ext cx="212323" cy="388620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80944" y="5249799"/>
            <a:ext cx="256763" cy="291465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7583" y="5113782"/>
            <a:ext cx="212323" cy="427482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80944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2736" y="4997196"/>
            <a:ext cx="256763" cy="544068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69375" y="5074920"/>
            <a:ext cx="212323" cy="466344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2736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4666869"/>
            <a:ext cx="256763" cy="874395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1167" y="5036058"/>
            <a:ext cx="212323" cy="505206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219956"/>
            <a:ext cx="256763" cy="1321308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12959" y="5016627"/>
            <a:ext cx="212323" cy="524637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8112" y="3695319"/>
            <a:ext cx="256763" cy="1845944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34751" y="4997196"/>
            <a:ext cx="212323" cy="544068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3015234"/>
            <a:ext cx="256763" cy="2526030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6543" y="4977765"/>
            <a:ext cx="212323" cy="563499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11696" y="2529459"/>
            <a:ext cx="256763" cy="3011805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78335" y="4958334"/>
            <a:ext cx="212323" cy="582930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33488" y="2179701"/>
            <a:ext cx="256763" cy="3361563"/>
          </a:xfrm>
          <a:gradFill>
            <a:gsLst>
              <a:gs pos="0">
                <a:srgbClr val="6366F1"/>
              </a:gs>
              <a:gs pos="100000">
                <a:srgbClr val="818CF8"/>
              </a:gs>
            </a:gsLst>
            <a:lin ang="54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00127" y="4944732"/>
            <a:ext cx="212323" cy="596531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3488" y="5577840"/>
            <a:ext cx="493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75A6E"/>
                </a:solidFill>
              </a:rPr>
              <a:t>M12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14447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Revenue vs Cost (₹)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1481328"/>
            <a:ext cx="182880" cy="14630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93792" y="144475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1481328"/>
            <a:ext cx="182880" cy="146304"/>
          </a:xfrm>
          <a:prstGeom prst="rect">
            <a:avLst/>
          </a:prstGeom>
          <a:solidFill>
            <a:srgbClr val="AA2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1444752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1353312"/>
            <a:ext cx="3776472" cy="3840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14081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Key Milestones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2440" y="1828800"/>
            <a:ext cx="3776472" cy="5029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2440" y="1828800"/>
            <a:ext cx="50292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2168" y="186537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Month 1–2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2168" y="2066543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Beta launch, free infra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₹0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350008"/>
            <a:ext cx="3776472" cy="50292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92440" y="2350008"/>
            <a:ext cx="50292" cy="5029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2168" y="238658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</a:rPr>
              <a:t>Month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8" y="258775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First 25 paying users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24597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₹0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92440" y="2871215"/>
            <a:ext cx="3776472" cy="5029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92440" y="2871215"/>
            <a:ext cx="5029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02168" y="2907791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Month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02168" y="3108959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60 users, Render upgrade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₹5,000/mo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2440" y="3392424"/>
            <a:ext cx="3776472" cy="50292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92440" y="3392424"/>
            <a:ext cx="5029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02168" y="342900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Month 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02168" y="36301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150 users, SMS OTP live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3502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₹28,000/mo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92440" y="3913631"/>
            <a:ext cx="3776472" cy="5029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92440" y="3913631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02168" y="3950207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Month 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2168" y="4151375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280 users, iOS app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07040" y="40233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₹68,000/mo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4434840"/>
            <a:ext cx="3776472" cy="50292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092440" y="4434840"/>
            <a:ext cx="5029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02168" y="447141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Month 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02168" y="4672583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420 users, academy partnerships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07040" y="4544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₹1,30,000/mo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92440" y="4956048"/>
            <a:ext cx="3776472" cy="5029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92440" y="4956048"/>
            <a:ext cx="50292" cy="5029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02168" y="499262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18CF8"/>
                </a:solidFill>
              </a:rPr>
              <a:t>Month 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02168" y="51937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550 users — BREAK-EVEN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07040" y="50657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</a:rPr>
              <a:t>₹1,73,000/mo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961888"/>
            <a:ext cx="11457432" cy="658368"/>
          </a:xfrm>
          <a:gradFill>
            <a:gsLst>
              <a:gs pos="0">
                <a:srgbClr val="1E1B4B"/>
              </a:gs>
              <a:gs pos="100000">
                <a:srgbClr val="032519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6089904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  Break-Even ~200 users  ·  Profitable from Month 9  ·  ₹16.7L projected annual profit at 500 users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80618"/>
            </a:gs>
          </a:gsLst>
          <a:lin ang="93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950976"/>
            <a:ext cx="377647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94A3B8"/>
                </a:solidFill>
              </a:rPr>
              <a:t>Seed funding to scale SportNexus from 50 → 5,000 users across Hyderabad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00200"/>
            <a:ext cx="5788152" cy="1371600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50292" cy="1371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700784"/>
            <a:ext cx="5605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₹25 – 50 Lakhs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50592"/>
            <a:ext cx="5605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SEED ROUND  ·  18-MONTH RUNWAY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2788920" cy="214884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50292" cy="2148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</a:rPr>
              <a:t>40%
₹10–20L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3995928"/>
            <a:ext cx="123444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7822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Engineering
&amp;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53712"/>
            <a:ext cx="2514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Senior React Native + Backend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246120"/>
            <a:ext cx="2788920" cy="214884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246120"/>
            <a:ext cx="50292" cy="21488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25%
₹6–12L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995928"/>
            <a:ext cx="123444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7822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Sales &amp;
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553712"/>
            <a:ext cx="2514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Academy partnerships · campaigns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246120"/>
            <a:ext cx="2788920" cy="214884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246120"/>
            <a:ext cx="50292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20%
₹5–10L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3995928"/>
            <a:ext cx="123444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07822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Infrastructure
Scale-Up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53712"/>
            <a:ext cx="2514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Render → AWS migration at 2,000+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246120"/>
            <a:ext cx="2788920" cy="2148840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246120"/>
            <a:ext cx="5029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331012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15%
₹4–7L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3995928"/>
            <a:ext cx="123444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078224"/>
            <a:ext cx="2514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Operations
&amp; Legal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553712"/>
            <a:ext cx="2514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Entity registration · CS 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41264"/>
            <a:ext cx="11274552" cy="45720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650992"/>
            <a:ext cx="2743200" cy="98755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650992"/>
            <a:ext cx="50292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705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12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9801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550+ users
₹20L ARR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5650992"/>
            <a:ext cx="2743200" cy="98755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560" y="5650992"/>
            <a:ext cx="50292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5705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18 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59801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2,000+ users
₹80L ARR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650992"/>
            <a:ext cx="2743200" cy="98755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650992"/>
            <a:ext cx="5029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705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24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9801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5,000+ users
₹2Cr+ ARR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5650992"/>
            <a:ext cx="2743200" cy="987552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5650992"/>
            <a:ext cx="50292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5705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36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980176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Series A ready
₹5Cr+ ARR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D1422"/>
            </a:gs>
          </a:gsLst>
          <a:lin ang="888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" cy="1097280"/>
          </a:xfrm>
          <a:gradFill>
            <a:gsLst>
              <a:gs pos="0">
                <a:srgbClr val="1E1B4B"/>
              </a:gs>
              <a:gs pos="100000">
                <a:srgbClr val="0D1422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SportNexus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Competitive moat built into the product from day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3749039" cy="239572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50292" cy="2395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" y="1298448"/>
            <a:ext cx="731520" cy="2395728"/>
          </a:xfrm>
          <a:prstGeom prst="rect">
            <a:avLst/>
          </a:prstGeom>
          <a:solidFill>
            <a:srgbClr val="0708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048255"/>
            <a:ext cx="676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4813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 Maps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1892807"/>
            <a:ext cx="27432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048255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OpenStreetMap replaces Google Maps
Saves ₹5,000–15,000/month vs competitors
at 1,000+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98448"/>
            <a:ext cx="3749039" cy="239572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98448"/>
            <a:ext cx="50292" cy="239572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7972" y="1298448"/>
            <a:ext cx="731520" cy="2395728"/>
          </a:xfrm>
          <a:prstGeom prst="rect">
            <a:avLst/>
          </a:prstGeom>
          <a:solidFill>
            <a:srgbClr val="0A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048255"/>
            <a:ext cx="676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4813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10-Min Slot 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1892807"/>
            <a:ext cx="27432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048255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Slot reserved during payment window only
Auto-releases if unpaid · prevents overbooking
Ghost booking rate: 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98448"/>
            <a:ext cx="3749039" cy="239572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298448"/>
            <a:ext cx="50292" cy="2395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9892" y="1298448"/>
            <a:ext cx="731520" cy="2395728"/>
          </a:xfrm>
          <a:prstGeom prst="rect">
            <a:avLst/>
          </a:prstGeom>
          <a:solidFill>
            <a:srgbClr val="010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2048255"/>
            <a:ext cx="676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4813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Transport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892807"/>
            <a:ext cx="27432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048255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Live GPS driver tracking via Socket.IO
Parents watch pickup in real-time
Unique vs all local competitors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58768"/>
            <a:ext cx="3749039" cy="239572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58768"/>
            <a:ext cx="50292" cy="2395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" y="3858768"/>
            <a:ext cx="731520" cy="2395728"/>
          </a:xfrm>
          <a:prstGeom prst="rect">
            <a:avLst/>
          </a:prstGeom>
          <a:solidFill>
            <a:srgbClr val="041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" y="4608576"/>
            <a:ext cx="676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041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QR-Based UPI Payments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4453128"/>
            <a:ext cx="27432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4608576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Bank-approved QR scan flow
No collect request blocks (bank policy)
Smooth checkout = higher conversion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858768"/>
            <a:ext cx="3749039" cy="239572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858768"/>
            <a:ext cx="50292" cy="2395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7972" y="3858768"/>
            <a:ext cx="731520" cy="2395728"/>
          </a:xfrm>
          <a:prstGeom prst="rect">
            <a:avLst/>
          </a:prstGeom>
          <a:solidFill>
            <a:srgbClr val="13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4608576"/>
            <a:ext cx="676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4041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Offline-First Mobile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4453128"/>
            <a:ext cx="27432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4608576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Cached data works without connectivity
Local enrollment store in AsyncStorage
No data loss on poor signal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858768"/>
            <a:ext cx="3749039" cy="2395728"/>
          </a:xfrm>
          <a:prstGeom prst="rect">
            <a:avLst/>
          </a:prstGeom>
          <a:solidFill>
            <a:srgbClr val="0D1422"/>
          </a:solidFill>
          <a:ln w="9525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858768"/>
            <a:ext cx="50292" cy="2395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79892" y="3858768"/>
            <a:ext cx="731520" cy="2395728"/>
          </a:xfrm>
          <a:prstGeom prst="rect">
            <a:avLst/>
          </a:prstGeom>
          <a:solidFill>
            <a:srgbClr val="0708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3608" y="4608576"/>
            <a:ext cx="676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041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Lean Dev Team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4453128"/>
            <a:ext cx="2743200" cy="36576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4608576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Delivered in 4 months by startup team
₹7L build cost vs ₹20L+ agency
Fast iteration cycle, no bloat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6382512"/>
            <a:ext cx="11457432" cy="347472"/>
          </a:xfrm>
          <a:gradFill>
            <a:gsLst>
              <a:gs pos="0">
                <a:srgbClr val="1E1B4B"/>
              </a:gs>
              <a:gs pos="100000">
                <a:srgbClr val="042E20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All-in monthly cost ₹30,700 at 500 users  ·  Dev cost ₹7L vs ₹20L agency  ·  Break-even at ~200 users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6070E"/>
            </a:gs>
            <a:gs pos="100000">
              <a:srgbClr val="080716"/>
            </a:gs>
          </a:gsLst>
          <a:lin ang="93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822960"/>
            <a:ext cx="3044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SportNexus at a glance — numbers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1005840"/>
          </a:xfrm>
          <a:prstGeom prst="rect">
            <a:avLst/>
          </a:prstGeom>
          <a:solidFill>
            <a:srgbClr val="0F10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</a:rPr>
              <a:t>₹7 Lakhs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371600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691640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 development cost  (vs ₹8–20L traditional)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2286000" cy="1005840"/>
          </a:xfrm>
          <a:prstGeom prst="rect">
            <a:avLst/>
          </a:prstGeom>
          <a:solidFill>
            <a:srgbClr val="141627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0292" cy="10058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27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18CF8"/>
                </a:solidFill>
              </a:rPr>
              <a:t>₹30,700 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1371600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8" y="1691640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All-in monthly cost  (cloud + maintenance + support)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33472"/>
            <a:ext cx="2286000" cy="1005840"/>
          </a:xfrm>
          <a:prstGeom prst="rect">
            <a:avLst/>
          </a:prstGeom>
          <a:solidFill>
            <a:srgbClr val="0F1026"/>
          </a:solidFill>
          <a:ln w="9525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50292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95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</a:rPr>
              <a:t>₹13,700 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633472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953512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Cloud infrastructure  (paid production plans)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33472"/>
            <a:ext cx="2286000" cy="1005840"/>
          </a:xfrm>
          <a:prstGeom prst="rect">
            <a:avLst/>
          </a:prstGeom>
          <a:solidFill>
            <a:srgbClr val="021D14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633472"/>
            <a:ext cx="5029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8895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₹17,000 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2633472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953512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App maintenance + application support retainer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95344"/>
            <a:ext cx="2286000" cy="1005840"/>
          </a:xfrm>
          <a:prstGeom prst="rect">
            <a:avLst/>
          </a:prstGeom>
          <a:solidFill>
            <a:srgbClr val="2719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95344"/>
            <a:ext cx="502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5137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~200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895344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4368" y="4215383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Break-even 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895344"/>
            <a:ext cx="2286000" cy="1005840"/>
          </a:xfrm>
          <a:prstGeom prst="rect">
            <a:avLst/>
          </a:prstGeom>
          <a:solidFill>
            <a:srgbClr val="082118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895344"/>
            <a:ext cx="50292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15137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</a:rPr>
              <a:t>₹1,73,000 /mo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3895344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0808" y="4215383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Projected revenue at 500 active users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57216"/>
            <a:ext cx="2286000" cy="1005840"/>
          </a:xfrm>
          <a:prstGeom prst="rect">
            <a:avLst/>
          </a:prstGeom>
          <a:solidFill>
            <a:srgbClr val="021D14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157216"/>
            <a:ext cx="5029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132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₹16.7 Lakhs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5157216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4368" y="5477255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Projected annual net profit at 500 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157216"/>
            <a:ext cx="2286000" cy="1005840"/>
          </a:xfrm>
          <a:prstGeom prst="rect">
            <a:avLst/>
          </a:prstGeom>
          <a:solidFill>
            <a:srgbClr val="271901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157216"/>
            <a:ext cx="502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4132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2% / txn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5157216"/>
            <a:ext cx="3337560" cy="1005840"/>
          </a:xfrm>
          <a:prstGeom prst="rect">
            <a:avLst/>
          </a:prstGeom>
          <a:solidFill>
            <a:srgbClr val="0D1422"/>
          </a:solidFill>
          <a:ln w="6350">
            <a:solidFill>
              <a:srgbClr val="1A2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0808" y="5477255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Razorpay fee — only when revenue flows 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29400"/>
            <a:ext cx="12188952" cy="45720"/>
          </a:xfrm>
          <a:gradFill>
            <a:gsLst>
              <a:gs pos="0">
                <a:srgbClr val="6366F1"/>
              </a:gs>
              <a:gs pos="100000">
                <a:srgbClr val="10B981"/>
              </a:gs>
            </a:gsLst>
            <a:lin ang="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69340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75A6E"/>
                </a:solidFill>
              </a:rPr>
              <a:t>SportNexus  ·  Built Lean. Designed to Scale.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