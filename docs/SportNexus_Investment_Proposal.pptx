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1097280"/>
            <a:ext cx="4389120" cy="4389120"/>
          </a:xfrm>
          <a:prstGeom prst="ellipse">
            <a:avLst/>
          </a:prstGeom>
          <a:solidFill>
            <a:srgbClr val="0D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4206240"/>
            <a:ext cx="3200400" cy="3200400"/>
          </a:xfrm>
          <a:prstGeom prst="ellipse">
            <a:avLst/>
          </a:prstGeom>
          <a:solidFill>
            <a:srgbClr val="0D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2286000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SPORTNEXUS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 Light"/>
              </a:rPr>
              <a:t>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0D9488"/>
                </a:solidFill>
                <a:latin typeface="Calibri Light"/>
              </a:rPr>
              <a:t>Investment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C0D0"/>
                </a:solidFill>
                <a:latin typeface="Calibri"/>
              </a:rPr>
              <a:t>Production-Ready  ·  Sports Academy Booking Platform  ·  iOS &amp; Android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14800"/>
            <a:ext cx="5029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BBF24"/>
                </a:solidFill>
                <a:latin typeface="Calibri"/>
              </a:rPr>
              <a:t>₹ 25,00,000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474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C0D0"/>
                </a:solidFill>
                <a:latin typeface="Calibri"/>
              </a:rPr>
              <a:t>Total Investment  ·  6 Months Delivery  ·  7-Member Expert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7080"/>
                </a:solidFill>
                <a:latin typeface="Calibri"/>
              </a:rPr>
              <a:t>Prepared: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080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456070"/>
                </a:solidFill>
                <a:latin typeface="Calibri"/>
              </a:rPr>
              <a:t>Confidential  · 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SportNexus Platform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97280"/>
            <a:ext cx="2743200" cy="1417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09728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070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6642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9488"/>
                </a:solidFill>
                <a:latin typeface="Calibri"/>
              </a:rPr>
              <a:t>₹25,00,000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0756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Total Investment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743200" cy="1417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097280"/>
            <a:ext cx="27432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2070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6642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Calibri"/>
              </a:rPr>
              <a:t>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0756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End-to-End Delivery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097280"/>
            <a:ext cx="2743200" cy="1417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0972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070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642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7 Experts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756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Dedicated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576" y="1097280"/>
            <a:ext cx="2743200" cy="1417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0576" y="109728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2070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6642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0756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Mobile · API ·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2743200"/>
            <a:ext cx="11484864" cy="3822191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2743200"/>
            <a:ext cx="1148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" y="2743200"/>
            <a:ext cx="64008" cy="382219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Project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3101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•   SportNexus is a production-grade sports academy booking platform enabling parents and students to discover, enroll, pay, and track training — all from a mobile app.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931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•   Comprises a React Native mobile app (iOS + Android), a Fastify REST API with PostgreSQL/Redis/Socket.IO, and a Next.js admin dashboard — three integrated products.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553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•   Core capabilities: GPS-based academy discovery, Razorpay online payments, live transport tracking, Firebase push notifications, admin analytics, and RBAC security.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17550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•   Built on PostgreSQL 16 with 12 data models, 22 indexes, Redis caching, BullMQ workers, HMAC webhook verification, and CI/CD pipelines — production-grade architecture.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79729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•   Total scope: 16 mobile screens, 28+ API endpoints, 7 admin pages, 12 DB tables, real-time Socket.IO, full DevOps setup, security audit, and 30-day post-launch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Platform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Three integrated products delivered as one cohesive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379476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37947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52144"/>
            <a:ext cx="3794760" cy="804672"/>
          </a:xfrm>
          <a:prstGeom prst="rect">
            <a:avLst/>
          </a:prstGeom>
          <a:solidFill>
            <a:srgbClr val="E6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20700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F2937"/>
                </a:solidFill>
                <a:latin typeface="Calibri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21615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Mobile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8191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React Native 0.76 · Expo SDK 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0756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16 fully designed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25328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iOS &amp; Android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9900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Zustand state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4472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React Query v5 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3904487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Socket.IO real-time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43616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Firebase push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48188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QR code &amp; payment receipts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52760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Offline-tolerant local store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1097280"/>
            <a:ext cx="379476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1097280"/>
            <a:ext cx="379476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1152144"/>
            <a:ext cx="3794760" cy="804672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3" y="120700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F2937"/>
                </a:solidFill>
                <a:latin typeface="Calibri"/>
              </a:rPr>
              <a:t>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5192" y="121615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API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158191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Fastify · Node.js · PostgreSQL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20756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8 REST API route domains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25328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JWT auth + RBAC guards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29900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Razorpay payment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4472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Socket.IO transit rooms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3904487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BullMQ background workers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3616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Redis caching (5 &amp; 10 min TTL)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48188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Zod input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52760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HMAC webhook verification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38744" y="1097280"/>
            <a:ext cx="379476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38744" y="1097280"/>
            <a:ext cx="3794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38744" y="1152144"/>
            <a:ext cx="3794760" cy="8046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6" y="120700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F2937"/>
                </a:solidFill>
                <a:latin typeface="Calibri"/>
              </a:rPr>
              <a:t>🖥️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544" y="121615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Admin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158191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Next.js 14 · Tailwind CSS · Recharts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20756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7 management pages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25328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Enrollment monitoring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2" y="29900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Revenue analytics charts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9912" y="34472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Academy &amp; slot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9912" y="3904487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Daily transit operations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9912" y="43616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Role-based access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9912" y="48188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Recharts data visualisations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9912" y="527608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✓  Vercel one-click deploy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Core Features &amp;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Comprehensive feature set engineered for production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2834640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28346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3167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33502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Smart Academy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920240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GPS-based search with sport, distance, rating, transport &amp; fee filters. Redis-cached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70432"/>
            <a:ext cx="2834640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70432"/>
            <a:ext cx="28346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3167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133502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Multi-Step Enrollment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920240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Slot selection → duration → transport option → payment → booking confirmation with QR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170432"/>
            <a:ext cx="2834640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170432"/>
            <a:ext cx="2834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13167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133502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Online Payment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1920240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Razorpay integration — order creation, HMAC-SHA256 webhook verification, receipts &amp; refunds.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170432"/>
            <a:ext cx="2834640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170432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13167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133502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Live Transport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1920240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Real-time driver location via Socket.IO. ETA, pickup stop order (TSP algorithm), status updates.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76472"/>
            <a:ext cx="2834640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776472"/>
            <a:ext cx="28346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9227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" y="3941063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Push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4526280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Firebase Cloud Messaging. BullMQ scheduled alerts dispatched before slot time each morning.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776472"/>
            <a:ext cx="2834640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3776472"/>
            <a:ext cx="2834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39227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0208" y="3941063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Reviews &amp; Ratings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4526280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Per-academy 1–5 star reviews. Aggregate rating recalculated on every new review submission.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776472"/>
            <a:ext cx="2834640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3776472"/>
            <a:ext cx="28346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39227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7" y="3941063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Admin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1" y="4526280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Revenue charts, enrollment trends, slot utilisation, daily transit ops — all in one dashboard.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3776472"/>
            <a:ext cx="2834640" cy="2377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3776472"/>
            <a:ext cx="2834640" cy="54864"/>
          </a:xfrm>
          <a:prstGeom prst="rect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39227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941063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669"/>
                </a:solidFill>
                <a:latin typeface="Calibri"/>
              </a:rPr>
              <a:t>Security &amp; Auth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4526280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JWT + bcrypt refresh rotation, RBAC (5 roles), rate limiting, Zod validation, OWASP hardening.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Industry-standard, battle-tested technologies — no proprietary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83464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8346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52144"/>
            <a:ext cx="283464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207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664208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70078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React Native 0.76 / Expo 52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185416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22199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TypeScript 5.x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2706624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432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Zustand (state mgmt)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3227832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26440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TanStack Query v5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3749039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785615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React Navigation v6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4270248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430682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Expo Location + Notifs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" y="4791456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82803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React Native Maps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" y="5312664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534924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Socket.IO Client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1097280"/>
            <a:ext cx="283464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1097280"/>
            <a:ext cx="28346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1152144"/>
            <a:ext cx="28346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6432" y="1207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1664208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170078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Node.js 20 + Fastify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2185416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222199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TypeScript + Zod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2706624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27432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PostgreSQL 16 (Prisma)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01568" y="3227832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6432" y="326440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Redis 7 + BullMQ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3749039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3785615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Socket.IO (real-time)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01568" y="4270248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430682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Firebase Admin SDK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01568" y="4791456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56432" y="482803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Razorpay SDK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1568" y="5312664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6432" y="534924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JWT + bcrypt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1097280"/>
            <a:ext cx="283464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1097280"/>
            <a:ext cx="2834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1152144"/>
            <a:ext cx="28346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1" y="1207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73368" y="1664208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8231" y="170078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Next.js 14 App Router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73368" y="2185416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28231" y="222199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Tailwind CSS v3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73368" y="2706624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28231" y="27432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TypeScript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73368" y="3227832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28231" y="326440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Recharts analytics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73368" y="3749039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28231" y="3785615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React Hook Form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73368" y="4270248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28231" y="430682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Axios + SWR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73368" y="4791456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28231" y="482803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shadcn/ui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73368" y="5312664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28231" y="534924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Vercel deploy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35440" y="1097280"/>
            <a:ext cx="283464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109728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35440" y="1152144"/>
            <a:ext cx="283464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00032" y="1207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45167" y="1664208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00032" y="170078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Docker Compose (dev)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45167" y="2185416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00032" y="222199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Render.com (hosting)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45167" y="2706624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00032" y="27432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PostgreSQL managed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45167" y="3227832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00032" y="326440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Redis managed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45167" y="3749039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00032" y="3785615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Firebase Cloud Msg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345167" y="4270248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400032" y="430682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Razorpay gateway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45167" y="4791456"/>
            <a:ext cx="2615184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00032" y="482803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EAS Build (APK/IPA)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45167" y="5312664"/>
            <a:ext cx="2615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00032" y="534924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  GitHub Actions CI/CD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Development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Complete deliverables included in this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83464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8346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52144"/>
            <a:ext cx="283464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207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📱  Mobile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682496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1746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Screens designed &amp;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2450592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2514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Navigation stacks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2798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3218688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3282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Zustand state stores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3986784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050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Custom React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4334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4754880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4818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Modal 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" y="51023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" y="5522976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5586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Platform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" y="5870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iOS + Android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1097280"/>
            <a:ext cx="283464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1097280"/>
            <a:ext cx="28346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1152144"/>
            <a:ext cx="28346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1207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⚙️  API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1682496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1296" y="1746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REST API domains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296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19856" y="2450592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2514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API endpoints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1296" y="2798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28+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19856" y="3218688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11296" y="3282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Socket.IO 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1296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19856" y="3986784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11296" y="4050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BullMQ workers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1296" y="4334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19856" y="4754880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11296" y="4818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Redis cache TTLs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11296" y="51023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5 min &amp; 10 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9856" y="5522976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11296" y="5586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Rate limit rules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1296" y="5870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2 (global + auth)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097280"/>
            <a:ext cx="283464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1097280"/>
            <a:ext cx="2834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1152144"/>
            <a:ext cx="28346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28231" y="1207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🖥️  Admin + DB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91655" y="1682496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83096" y="1746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Admin dashboard pages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83096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91655" y="2450592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83096" y="2514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Recharts dashboards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83096" y="2798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91655" y="3218688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3096" y="3282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PostgreSQL tables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83096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91655" y="3986784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83096" y="4050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Database indexes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83096" y="4334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22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91655" y="4754880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83096" y="4818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FK relationships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83096" y="51023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16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91655" y="5522976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83096" y="5586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Enum domain types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3096" y="5870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35440" y="1097280"/>
            <a:ext cx="2834640" cy="55321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35440" y="109728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35440" y="1152144"/>
            <a:ext cx="283464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00032" y="1207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🔧  DevOps + QA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63456" y="1682496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54896" y="1746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Docker services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54896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3 (API, PG, Redis)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63456" y="2450592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54896" y="2514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CI/CD pipelines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54896" y="2798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63456" y="3218688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54896" y="3282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EAS build profiles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54896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63456" y="3986784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54896" y="4050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Environment configs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54896" y="4334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3 (dev/preview/prod)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63456" y="4754880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54896" y="4818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Security checks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54896" y="51023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OWASP Top 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363456" y="5522976"/>
            <a:ext cx="2578608" cy="6583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54896" y="5586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Test types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54896" y="5870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Unit +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Team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Dedicated specialist team required for production-grade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2788920" cy="2651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2788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33502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👨‍💻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3533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Senior Full-Stack
Developer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039112"/>
            <a:ext cx="2450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₹1,80,000/mo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49631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Duration: 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816352"/>
            <a:ext cx="24505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669"/>
                </a:solidFill>
                <a:latin typeface="Calibri"/>
              </a:rPr>
              <a:t>React Native + Fastify + PostgreSQL leadership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170432"/>
            <a:ext cx="2788920" cy="2651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170432"/>
            <a:ext cx="278892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33502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13533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Mobile Developer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2039112"/>
            <a:ext cx="2450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1296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₹1,50,000/mo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49631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Duration: 5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2816352"/>
            <a:ext cx="24505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669"/>
                </a:solidFill>
                <a:latin typeface="Calibri"/>
              </a:rPr>
              <a:t>Expo, React Native, animations, Socket.IO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170432"/>
            <a:ext cx="2788920" cy="2651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170432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133502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13533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Backend Developer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28231" y="2039112"/>
            <a:ext cx="2450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₹1,40,000/mo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249631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Duration: 5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2816352"/>
            <a:ext cx="24505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669"/>
                </a:solidFill>
                <a:latin typeface="Calibri"/>
              </a:rPr>
              <a:t>Fastify, PostgreSQL, Redis, BullMQ workers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170432"/>
            <a:ext cx="2788920" cy="2651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1170432"/>
            <a:ext cx="2788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133502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13533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UI/UX Designer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2039112"/>
            <a:ext cx="2450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4896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₹1,20,000/mo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249631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Duration: 4 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2816352"/>
            <a:ext cx="24505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669"/>
                </a:solidFill>
                <a:latin typeface="Calibri"/>
              </a:rPr>
              <a:t>Figma, design system, all 16 screen flows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01368" y="3767328"/>
            <a:ext cx="2788920" cy="2651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01368" y="3767328"/>
            <a:ext cx="27889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3192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59736" y="39502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QA Engineer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65960" y="4636008"/>
            <a:ext cx="2450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20824" y="4663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₹90,000/mo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5093208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Duration: 3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5413248"/>
            <a:ext cx="24505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669"/>
                </a:solidFill>
                <a:latin typeface="Calibri"/>
              </a:rPr>
              <a:t>Mobile + API testing, performance, security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73168" y="3767328"/>
            <a:ext cx="2788920" cy="2651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73168" y="3767328"/>
            <a:ext cx="27889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59" y="393192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☁️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31536" y="39502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DevOps Engineer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59" y="4636008"/>
            <a:ext cx="2450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92624" y="4663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₹1,20,000/mo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59" y="5093208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Duration: 2 months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59" y="5413248"/>
            <a:ext cx="24505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669"/>
                </a:solidFill>
                <a:latin typeface="Calibri"/>
              </a:rPr>
              <a:t>Docker, CI/CD, cloud infra, EAS builds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4968" y="3767328"/>
            <a:ext cx="2788920" cy="2651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44968" y="3767328"/>
            <a:ext cx="2788920" cy="54864"/>
          </a:xfrm>
          <a:prstGeom prst="rect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393192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03336" y="39502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669"/>
                </a:solidFill>
                <a:latin typeface="Calibri"/>
              </a:rPr>
              <a:t>Project Manager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9560" y="4636008"/>
            <a:ext cx="2450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64424" y="4663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₹1,10,000/mo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5093208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Duration: 6 months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5413248"/>
            <a:ext cx="24505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669"/>
                </a:solidFill>
                <a:latin typeface="Calibri"/>
              </a:rPr>
              <a:t>Agile delivery, sprint planning, stakeholders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6-month phased delivery — from discovery to go-live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29968"/>
            <a:ext cx="11475720" cy="64008"/>
          </a:xfrm>
          <a:prstGeom prst="rect">
            <a:avLst/>
          </a:prstGeom>
          <a:solidFill>
            <a:srgbClr val="CC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" y="182880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2359152"/>
            <a:ext cx="1737360" cy="42519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359152"/>
            <a:ext cx="1737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14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Discovery
&amp;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Wks 1–3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3547872"/>
            <a:ext cx="1591056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65760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Requirements 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69664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UI/UX wireframes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81728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DB schema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193792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API contract spec</a:t>
            </a:r>
          </a:p>
        </p:txBody>
      </p:sp>
      <p:sp>
        <p:nvSpPr>
          <p:cNvPr id="19" name="Oval 18"/>
          <p:cNvSpPr/>
          <p:nvPr/>
        </p:nvSpPr>
        <p:spPr>
          <a:xfrm>
            <a:off x="3072384" y="1828800"/>
            <a:ext cx="384048" cy="38404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95728" y="2359152"/>
            <a:ext cx="1737360" cy="42519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95728" y="2359152"/>
            <a:ext cx="173736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414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  <a:latin typeface="Calibr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6700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Core
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Wks 4–12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50592" y="3547872"/>
            <a:ext cx="1591056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7168" y="365760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All 16 mobile screens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169664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API server +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4681728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Admin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5193792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DB setup &amp; seed</a:t>
            </a:r>
          </a:p>
        </p:txBody>
      </p:sp>
      <p:sp>
        <p:nvSpPr>
          <p:cNvPr id="30" name="Oval 29"/>
          <p:cNvSpPr/>
          <p:nvPr/>
        </p:nvSpPr>
        <p:spPr>
          <a:xfrm>
            <a:off x="4992624" y="182880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2359152"/>
            <a:ext cx="1737360" cy="42519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5968" y="2359152"/>
            <a:ext cx="1737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414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6700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Integrations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Wks 13–16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0832" y="3547872"/>
            <a:ext cx="1591056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365760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Razorpay payments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4169664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Firebase FCM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4681728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Socket.IO transit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5193792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Maps &amp; geolocation</a:t>
            </a:r>
          </a:p>
        </p:txBody>
      </p:sp>
      <p:sp>
        <p:nvSpPr>
          <p:cNvPr id="41" name="Oval 40"/>
          <p:cNvSpPr/>
          <p:nvPr/>
        </p:nvSpPr>
        <p:spPr>
          <a:xfrm>
            <a:off x="6912864" y="182880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2359152"/>
            <a:ext cx="1737360" cy="42519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6208" y="2359152"/>
            <a:ext cx="17373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2414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Phase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6700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Testing &amp;
QA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Wks 17–20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1072" y="3547872"/>
            <a:ext cx="1591056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365760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Unit &amp; API 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4169664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Performance load 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4681728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Security audit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5193792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Bug-fix sprints</a:t>
            </a:r>
          </a:p>
        </p:txBody>
      </p:sp>
      <p:sp>
        <p:nvSpPr>
          <p:cNvPr id="52" name="Oval 51"/>
          <p:cNvSpPr/>
          <p:nvPr/>
        </p:nvSpPr>
        <p:spPr>
          <a:xfrm>
            <a:off x="8833104" y="182880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56448" y="2359152"/>
            <a:ext cx="1737360" cy="42519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56448" y="2359152"/>
            <a:ext cx="17373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7888" y="2414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  <a:latin typeface="Calibri"/>
              </a:rPr>
              <a:t>Phase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26700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Deployment
&amp; Launch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8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Wks 21–22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11312" y="3547872"/>
            <a:ext cx="1591056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47888" y="365760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CI/CD pipelines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47888" y="4169664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Cloud deployment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47888" y="4681728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App store submit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47888" y="5193792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Go-live support</a:t>
            </a:r>
          </a:p>
        </p:txBody>
      </p:sp>
      <p:sp>
        <p:nvSpPr>
          <p:cNvPr id="63" name="Oval 62"/>
          <p:cNvSpPr/>
          <p:nvPr/>
        </p:nvSpPr>
        <p:spPr>
          <a:xfrm>
            <a:off x="10753344" y="1828800"/>
            <a:ext cx="384048" cy="384048"/>
          </a:xfrm>
          <a:prstGeom prst="ellipse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76688" y="2359152"/>
            <a:ext cx="1737360" cy="42519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076688" y="2359152"/>
            <a:ext cx="1737360" cy="54864"/>
          </a:xfrm>
          <a:prstGeom prst="rect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68128" y="2414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75669"/>
                </a:solidFill>
                <a:latin typeface="Calibri"/>
              </a:rPr>
              <a:t>Phase 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04120" y="26700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Handover
&amp; Support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412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Wks 23–24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31552" y="3547872"/>
            <a:ext cx="1591056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365760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Documentation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68128" y="4169664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Code walkthrough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68128" y="4681728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30-day warranty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68128" y="5193792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• Knowledge transfer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Detailed Cost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Line-item pricing — effort hours × market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46177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12471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Deliverable / 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10912" y="1078992"/>
            <a:ext cx="1435608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112471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Effort (hrs)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078992"/>
            <a:ext cx="1435608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12471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Rate (₹/hr)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078992"/>
            <a:ext cx="1984248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12471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Amount (₹)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481328"/>
            <a:ext cx="46177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51790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Mobile App — 16 screens (React Native / Expo SDK 52)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912" y="1481328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151790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400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481328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151790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198424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151790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6,00,000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1819656"/>
            <a:ext cx="461772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1856232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API Server — 8 domains, Socket.IO, BullMQ workers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10912" y="1819656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185623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320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819656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185623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1819656"/>
            <a:ext cx="198424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185623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4,80,000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2157984"/>
            <a:ext cx="46177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2194560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Admin Dashboard — Next.js 14, 7 pages, Recharts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10912" y="2157984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2352" y="219456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160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157984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219456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73568" y="2157984"/>
            <a:ext cx="198424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2194560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2,40,000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2496312"/>
            <a:ext cx="461772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2532888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UI/UX Design — all screens, design system, Figma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10912" y="2496312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2352" y="253288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2496312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79" y="253288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₹1,200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73568" y="2496312"/>
            <a:ext cx="198424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5008" y="253288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2,40,000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2834640"/>
            <a:ext cx="46177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2871216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Database Design — 12 models, 22 indexes, seed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10912" y="2834640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02352" y="287121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2834640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79" y="287121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₹1,500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2834640"/>
            <a:ext cx="198424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5008" y="2871216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1,20,000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3172968"/>
            <a:ext cx="461772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320954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QA &amp; Testing — unit, integration, performance tests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10912" y="3172968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02352" y="320954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160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3172968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79" y="320954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73568" y="3172968"/>
            <a:ext cx="198424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5008" y="32095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1,60,000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" y="3511296"/>
            <a:ext cx="46177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3547872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DevOps &amp; CI/CD — Docker, cloud deployment, pipelines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10912" y="3511296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02352" y="354787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92240" y="3511296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79" y="354787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₹1,500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73568" y="3511296"/>
            <a:ext cx="198424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65008" y="354787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1,20,000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7472" y="3849624"/>
            <a:ext cx="461772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3886200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Project Management — agile planning, delivery tracking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10912" y="3849624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02352" y="388620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120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2240" y="3849624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79" y="388620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₹1,200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73568" y="3849624"/>
            <a:ext cx="198424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65008" y="3886200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1,44,000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" y="4187952"/>
            <a:ext cx="46177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8912" y="4224528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Security Audit — OWASP Top 10, pen testing, hardening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10912" y="4187952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02352" y="422452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60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92240" y="4187952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83679" y="422452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₹1,500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73568" y="4187952"/>
            <a:ext cx="198424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65008" y="422452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 90,000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4526280"/>
            <a:ext cx="461772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8912" y="4562856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Third-party Integrations — Razorpay, Firebase, Maps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10912" y="4526280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02352" y="456285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80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92240" y="4526280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3679" y="456285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₹1,500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973568" y="4526280"/>
            <a:ext cx="198424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65008" y="4562856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  <a:latin typeface="Calibri"/>
              </a:rPr>
              <a:t>₹ 1,20,000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7472" y="4864608"/>
            <a:ext cx="46177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8912" y="490118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Technical Documentation &amp; Knowledge Transfer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10912" y="4864608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02352" y="490118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60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92240" y="4864608"/>
            <a:ext cx="143560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83679" y="490118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₹1,000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973568" y="4864608"/>
            <a:ext cx="1984248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65008" y="490118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 60,000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47472" y="5202936"/>
            <a:ext cx="461772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38912" y="5239512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Deployment, Go-Live Support &amp; App Store Submission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10912" y="5202936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102352" y="523951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40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92240" y="5202936"/>
            <a:ext cx="143560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83679" y="523951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₹1,500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73568" y="5202936"/>
            <a:ext cx="1984248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65008" y="523951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₹ 60,000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47472" y="5541264"/>
            <a:ext cx="4617720" cy="347472"/>
          </a:xfrm>
          <a:prstGeom prst="rect">
            <a:avLst/>
          </a:prstGeom>
          <a:solidFill>
            <a:srgbClr val="E8F0F8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010912" y="5541264"/>
            <a:ext cx="1435608" cy="347472"/>
          </a:xfrm>
          <a:prstGeom prst="rect">
            <a:avLst/>
          </a:prstGeom>
          <a:solidFill>
            <a:srgbClr val="E8F0F8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492240" y="5541264"/>
            <a:ext cx="1435608" cy="347472"/>
          </a:xfrm>
          <a:prstGeom prst="rect">
            <a:avLst/>
          </a:prstGeom>
          <a:solidFill>
            <a:srgbClr val="E8F0F8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973568" y="5541264"/>
            <a:ext cx="1984248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8912" y="560527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Sub-total (Development)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10144" y="559612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₹ 24,34,000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Total Investment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All-inclusive pricing — no hidden costs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97280"/>
            <a:ext cx="6675120" cy="554126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097280"/>
            <a:ext cx="6675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097280"/>
            <a:ext cx="64008" cy="55412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1887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Cost Breakdown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19072"/>
            <a:ext cx="6355080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19072"/>
            <a:ext cx="5486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10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Development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103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D9488"/>
                </a:solidFill>
                <a:latin typeface="Calibri"/>
              </a:rPr>
              <a:t>₹24,34,000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33472"/>
            <a:ext cx="6355080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33472"/>
            <a:ext cx="54864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724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Cloud Infrastructure &amp; Hosting (1 yr)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0175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E3A5F"/>
                </a:solidFill>
                <a:latin typeface="Calibri"/>
              </a:rPr>
              <a:t>₹  60,000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47872"/>
            <a:ext cx="6355080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547872"/>
            <a:ext cx="54864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639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App Stores, SSL &amp; Domain (1 yr)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931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  <a:latin typeface="Calibri"/>
              </a:rPr>
              <a:t>₹  35,000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62272"/>
            <a:ext cx="6355080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462272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45537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Buffer &amp; Contingency Reserve (3%)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846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₹  71,000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635508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532120"/>
            <a:ext cx="635508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5961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 INVESTMENT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43600"/>
            <a:ext cx="5989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FBBF24"/>
                </a:solidFill>
                <a:latin typeface="Calibri"/>
              </a:rPr>
              <a:t>₹ 25,00,000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1097280"/>
            <a:ext cx="4590288" cy="554126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80" y="1097280"/>
            <a:ext cx="4590288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1097280"/>
            <a:ext cx="4590288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1170432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What's Included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16916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16-screen mobile app — iOS &amp; Android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1488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Full API with 28+ endpoints &amp; RBAC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6060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Admin dashboard with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0632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Razorpay payment gateway (live)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5204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Real-time transport tracking (Socket.IO)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3977639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Firebase push notification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4348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OWASP security audit &amp; hardening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8920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CI/CD pipelines + cloud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53492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Complete source code &amp; IP transfer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5806440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E8E0"/>
                </a:solidFill>
                <a:latin typeface="Calibri"/>
              </a:rPr>
              <a:t>✅  30-day post-launch warranty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64008" cy="5897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This Investment Is Justified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4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8C4"/>
                </a:solidFill>
                <a:latin typeface="Calibri"/>
              </a:rPr>
              <a:t>Production-ready platform vs. a basic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5577840" cy="4892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078992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078992"/>
            <a:ext cx="557784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✗  Basic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33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₹6–8 Lakhs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✗   Single developer, 3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0370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✗   No automated testing — bugs reach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✗   Hardcoded data, no real database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278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✗   Mock / demo payments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398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✗   No real-time features (polling at best)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✗   Manual deployment, no 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6402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✗   No security audit — OWASP vulnerabilities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760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✗   No documentation or knowledge transfer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78992"/>
            <a:ext cx="5577840" cy="4892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78992"/>
            <a:ext cx="5577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078992"/>
            <a:ext cx="55778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1338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✓  SportNexus — Production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133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₹25 Lakhs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6916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✓   7-member specialist team, 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0370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✓   Unit + integration tests, load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1576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✓   12-table PostgreSQL schema, 22 indexes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278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✓   Live Razorpay with HMAC webhook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398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✓   Socket.IO real-time driver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519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✓   CI/CD pipelines + cloud infra (Docker, Render)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6402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✓   OWASP Top 10 audit, JWT + bcrypt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2760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✓   Full documentation + 30-day warranty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080760"/>
            <a:ext cx="11494008" cy="530352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6080760"/>
            <a:ext cx="64008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144768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5B09"/>
                </a:solidFill>
                <a:latin typeface="Calibri"/>
              </a:rPr>
              <a:t>💡  The ₹25L investment builds a platform you can launch commercially — not a demo. Real users, real transactions, real-time features, production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914400"/>
            <a:ext cx="4389120" cy="4389120"/>
          </a:xfrm>
          <a:prstGeom prst="ellipse">
            <a:avLst/>
          </a:prstGeom>
          <a:solidFill>
            <a:srgbClr val="0D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4206240"/>
            <a:ext cx="3200400" cy="3200400"/>
          </a:xfrm>
          <a:prstGeom prst="ellipse">
            <a:avLst/>
          </a:prstGeom>
          <a:solidFill>
            <a:srgbClr val="0D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2286000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SPORTNEXUS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54680"/>
            <a:ext cx="5029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BC0D0"/>
                </a:solidFill>
                <a:latin typeface="Calibri"/>
              </a:rPr>
              <a:t>Ready to build the future of sports training in India.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50208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₹25,00,000  ·  6 Months  ·  7-Member Team  ·  Production-Ready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63440"/>
            <a:ext cx="2103120" cy="822960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7000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₹25L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C0D0"/>
                </a:solidFill>
                <a:latin typeface="Calibri"/>
              </a:rPr>
              <a:t>Investment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663440"/>
            <a:ext cx="2103120" cy="822960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47000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6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120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C0D0"/>
                </a:solidFill>
                <a:latin typeface="Calibri"/>
              </a:rPr>
              <a:t>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4663440"/>
            <a:ext cx="2103120" cy="822960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47000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5120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C0D0"/>
                </a:solidFill>
                <a:latin typeface="Calibri"/>
              </a:rPr>
              <a:t>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BC0D0"/>
                </a:solidFill>
                <a:latin typeface="Calibri"/>
              </a:rPr>
              <a:t>Questions? Let's align on the roadmap and get started.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6070"/>
                </a:solidFill>
                <a:latin typeface="Calibri"/>
              </a:rPr>
              <a:t>Prepared: April 2026  ·  Confidential  ·  For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